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76" r:id="rId12"/>
    <p:sldId id="264" r:id="rId13"/>
    <p:sldId id="265" r:id="rId14"/>
    <p:sldId id="277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857375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31F20"/>
    <a:srgbClr val="0072C3"/>
    <a:srgbClr val="007D79"/>
    <a:srgbClr val="D02670"/>
    <a:srgbClr val="33B1FF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97" autoAdjust="0"/>
    <p:restoredTop sz="91514" autoAdjust="0"/>
  </p:normalViewPr>
  <p:slideViewPr>
    <p:cSldViewPr snapToGrid="0">
      <p:cViewPr>
        <p:scale>
          <a:sx n="72" d="100"/>
          <a:sy n="72" d="100"/>
        </p:scale>
        <p:origin x="888" y="288"/>
      </p:cViewPr>
      <p:guideLst>
        <p:guide orient="horz" pos="744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1999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609" y="3134676"/>
            <a:ext cx="8526779" cy="588648"/>
          </a:xfrm>
          <a:noFill/>
        </p:spPr>
        <p:txBody>
          <a:bodyPr>
            <a:no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 Trends Analysis: Programming Languages, Databases, and Developer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91250"/>
            <a:ext cx="2257424" cy="640485"/>
          </a:xfrm>
          <a:noFill/>
        </p:spPr>
        <p:txBody>
          <a:bodyPr>
            <a:normAutofit fontScale="92500"/>
          </a:bodyPr>
          <a:lstStyle/>
          <a:p>
            <a:pPr algn="l"/>
            <a:r>
              <a:rPr lang="en-US" sz="1600" b="1" dirty="0">
                <a:solidFill>
                  <a:schemeClr val="bg2"/>
                </a:solidFill>
              </a:rPr>
              <a:t>KAILASH GOWTHAM U</a:t>
            </a:r>
          </a:p>
          <a:p>
            <a:pPr algn="l"/>
            <a:r>
              <a:rPr lang="en-US" sz="1600" b="1" dirty="0">
                <a:solidFill>
                  <a:schemeClr val="bg2"/>
                </a:solidFill>
              </a:rPr>
              <a:t>August 29,2025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1B27F-FE12-1209-1E24-EA9ECBE3AD06}"/>
              </a:ext>
            </a:extLst>
          </p:cNvPr>
          <p:cNvSpPr/>
          <p:nvPr/>
        </p:nvSpPr>
        <p:spPr>
          <a:xfrm>
            <a:off x="634595" y="6033780"/>
            <a:ext cx="2055265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IN" sz="1200" b="1" cap="none" spc="0" dirty="0">
              <a:ln w="10160">
                <a:solidFill>
                  <a:srgbClr val="231F20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Executive Summary</a:t>
            </a:r>
          </a:p>
          <a:p>
            <a:r>
              <a:rPr lang="en-IN" dirty="0"/>
              <a:t>Introduction</a:t>
            </a:r>
          </a:p>
          <a:p>
            <a:r>
              <a:rPr lang="en-IN" dirty="0"/>
              <a:t>Methodology</a:t>
            </a:r>
          </a:p>
          <a:p>
            <a:r>
              <a:rPr lang="en-IN" dirty="0"/>
              <a:t>Programming Language Trends</a:t>
            </a:r>
          </a:p>
          <a:p>
            <a:r>
              <a:rPr lang="en-IN" dirty="0"/>
              <a:t>Database Trends</a:t>
            </a:r>
          </a:p>
          <a:p>
            <a:r>
              <a:rPr lang="en-IN" dirty="0"/>
              <a:t>Dashboards</a:t>
            </a:r>
          </a:p>
          <a:p>
            <a:pPr lvl="1"/>
            <a:r>
              <a:rPr lang="en-IN" dirty="0"/>
              <a:t>Current Technology Usage</a:t>
            </a:r>
          </a:p>
          <a:p>
            <a:pPr lvl="1"/>
            <a:r>
              <a:rPr lang="en-IN" dirty="0"/>
              <a:t>Future Technology Trends</a:t>
            </a:r>
          </a:p>
          <a:p>
            <a:pPr lvl="1"/>
            <a:r>
              <a:rPr lang="en-IN" dirty="0"/>
              <a:t>Demographics</a:t>
            </a:r>
          </a:p>
          <a:p>
            <a:r>
              <a:rPr lang="en-IN" dirty="0"/>
              <a:t>Insights from Dashboards</a:t>
            </a:r>
          </a:p>
          <a:p>
            <a:r>
              <a:rPr lang="en-IN" dirty="0"/>
              <a:t>Overall Findings &amp; Implications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966644"/>
            <a:ext cx="7314699" cy="3866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project analyzes current and future trends in programming languages, databases, platforms, and developer preferences.</a:t>
            </a:r>
          </a:p>
          <a:p>
            <a:r>
              <a:rPr lang="en-IN" sz="2000" dirty="0"/>
              <a:t>Key findings:</a:t>
            </a:r>
            <a:endParaRPr lang="en-US" sz="2000" dirty="0"/>
          </a:p>
          <a:p>
            <a:pPr lvl="1"/>
            <a:r>
              <a:rPr lang="en-IN" sz="2000" dirty="0"/>
              <a:t>JavaScript, TypeScript, and C# dominate current usage.</a:t>
            </a:r>
            <a:endParaRPr lang="en-US" dirty="0"/>
          </a:p>
          <a:p>
            <a:pPr lvl="1"/>
            <a:r>
              <a:rPr lang="en-US" sz="2000" dirty="0"/>
              <a:t>Developers are eager to learn Python and C#.</a:t>
            </a:r>
          </a:p>
          <a:p>
            <a:pPr lvl="1"/>
            <a:r>
              <a:rPr lang="en-US" sz="2000" dirty="0"/>
              <a:t>PostgreSQL and MySQL are widely used; Microsoft SQL Server and MongoDB are highly desired.</a:t>
            </a:r>
          </a:p>
          <a:p>
            <a:pPr lvl="1"/>
            <a:r>
              <a:rPr lang="en-US" sz="2000" dirty="0"/>
              <a:t>AWS leads platform usage and interest.</a:t>
            </a:r>
          </a:p>
          <a:p>
            <a:r>
              <a:rPr lang="en-US" sz="2000" dirty="0"/>
              <a:t>Dashboards reveal strong regional and educational diversity among respondents.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The purpose of this report is to analyze current and future technology trends among developers.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target audience includes tech professionals, aspiring developers, and companies looking to align their technology stack with industry trends.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report provides insights into what technologies are currently in use and what developers are interested in learning, which is valuable for career planning and business strategy.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The analysis is based on data from a recent developer survey.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The survey provides a comprehensive view of the developer ecosystem.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This information can inform decisions about skill development and recruitment.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Data Sources</a:t>
            </a:r>
            <a:r>
              <a:rPr lang="en-US" sz="1800" dirty="0">
                <a:solidFill>
                  <a:schemeClr val="tx1"/>
                </a:solidFill>
              </a:rPr>
              <a:t>: IBM Cognos dashboards based on developer survey data.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1800" b="1" dirty="0"/>
              <a:t>Collection Method:</a:t>
            </a:r>
            <a:r>
              <a:rPr lang="en-US" sz="1800" dirty="0"/>
              <a:t> Responses collected from global developers.</a:t>
            </a:r>
            <a:endParaRPr lang="en-US" sz="2200" dirty="0"/>
          </a:p>
          <a:p>
            <a:r>
              <a:rPr lang="en-IN" sz="1800" b="1" dirty="0"/>
              <a:t>Data Wrangling:</a:t>
            </a:r>
          </a:p>
          <a:p>
            <a:pPr lvl="1"/>
            <a:r>
              <a:rPr lang="en-IN" sz="1800" dirty="0">
                <a:solidFill>
                  <a:schemeClr val="tx1"/>
                </a:solidFill>
              </a:rPr>
              <a:t>Cleaned categorical responses (e.g., multiple tech selections).</a:t>
            </a:r>
            <a:endParaRPr lang="en-IN" sz="16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Standardized platforms, languages, and databases.</a:t>
            </a:r>
          </a:p>
          <a:p>
            <a:pPr lvl="1"/>
            <a:r>
              <a:rPr lang="en-US" sz="1800" dirty="0"/>
              <a:t>Filtered top 10 entries for each category.</a:t>
            </a:r>
            <a:endParaRPr lang="en-US" sz="1800" b="1" dirty="0">
              <a:solidFill>
                <a:schemeClr val="tx1"/>
              </a:solidFill>
            </a:endParaRPr>
          </a:p>
          <a:p>
            <a:r>
              <a:rPr lang="en-IN" sz="1800" b="1" dirty="0"/>
              <a:t>Analysis:</a:t>
            </a:r>
          </a:p>
          <a:p>
            <a:pPr lvl="1"/>
            <a:r>
              <a:rPr lang="en-IN" sz="1800" dirty="0">
                <a:solidFill>
                  <a:schemeClr val="tx1"/>
                </a:solidFill>
              </a:rPr>
              <a:t>Comparison </a:t>
            </a:r>
            <a:r>
              <a:rPr lang="en-US" sz="1800" dirty="0">
                <a:solidFill>
                  <a:schemeClr val="tx1"/>
                </a:solidFill>
              </a:rPr>
              <a:t>between current usage vs. future learning interest.</a:t>
            </a:r>
          </a:p>
          <a:p>
            <a:pPr lvl="1"/>
            <a:r>
              <a:rPr lang="en-IN" sz="1800" dirty="0">
                <a:solidFill>
                  <a:schemeClr val="tx1"/>
                </a:solidFill>
              </a:rPr>
              <a:t>Trend </a:t>
            </a:r>
            <a:r>
              <a:rPr lang="en-US" sz="1800" dirty="0">
                <a:solidFill>
                  <a:schemeClr val="tx1"/>
                </a:solidFill>
              </a:rPr>
              <a:t>identification across platforms, languages, and demographics.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62112"/>
            <a:ext cx="1758143" cy="3270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271" y="1662111"/>
            <a:ext cx="1371600" cy="3270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Next Year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6586F6-C0ED-50C8-DDD1-1BB2D750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327564"/>
            <a:ext cx="5334001" cy="3494614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A3BFCE-9298-1513-51C9-505A8B385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27565"/>
            <a:ext cx="5334001" cy="34946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44286"/>
            <a:ext cx="10515601" cy="354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Current Year – Findings</a:t>
            </a:r>
          </a:p>
          <a:p>
            <a:r>
              <a:rPr lang="en-US" sz="1800" dirty="0"/>
              <a:t>JavaScript, HTML/CSS, and C# are the most widely used languages.</a:t>
            </a:r>
          </a:p>
          <a:p>
            <a:r>
              <a:rPr lang="en-US" sz="1800" dirty="0"/>
              <a:t>Python has a strong presence, particularly in data science and AI.</a:t>
            </a:r>
          </a:p>
          <a:p>
            <a:r>
              <a:rPr lang="en-US" sz="1800" dirty="0"/>
              <a:t>TypeScript is gaining steady adoption as a safer, modern alternative to JavaScript.</a:t>
            </a:r>
            <a:endParaRPr lang="en-US" sz="2000" dirty="0"/>
          </a:p>
          <a:p>
            <a:pPr marL="0" indent="0">
              <a:buNone/>
            </a:pPr>
            <a:r>
              <a:rPr lang="en-US" sz="2100" b="1" dirty="0"/>
              <a:t>Current Year – Implications</a:t>
            </a:r>
            <a:endParaRPr lang="en-US" sz="2100" dirty="0"/>
          </a:p>
          <a:p>
            <a:r>
              <a:rPr lang="en-US" sz="1800" dirty="0"/>
              <a:t>Web development skills (JavaScript/TypeScript + HTML/CSS) remain essential for most developers.</a:t>
            </a:r>
          </a:p>
          <a:p>
            <a:r>
              <a:rPr lang="en-US" sz="1800" dirty="0"/>
              <a:t>Enterprises continue to rely on C# for backend and enterprise systems.</a:t>
            </a:r>
          </a:p>
          <a:p>
            <a:r>
              <a:rPr lang="en-US" sz="1800" dirty="0"/>
              <a:t>Python’s growing share indicates increased demand for data analytics, ML, and AI skills.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0D60-FC56-6B59-4CC3-E452248B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EC4A-B6CE-B4FF-ABEE-2FDA59EB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572F-305F-6F2A-B48A-F54D99425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03921"/>
            <a:ext cx="10515600" cy="3452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Future Year – Findings</a:t>
            </a:r>
            <a:endParaRPr lang="en-US" sz="2100" dirty="0"/>
          </a:p>
          <a:p>
            <a:r>
              <a:rPr lang="en-US" sz="1800" dirty="0"/>
              <a:t>Developers most want to learn Python, TypeScript, and JavaScript.</a:t>
            </a:r>
          </a:p>
          <a:p>
            <a:r>
              <a:rPr lang="en-US" sz="1800" dirty="0"/>
              <a:t>C# and SQL remain highly relevant as developers plan to upskill.</a:t>
            </a:r>
          </a:p>
          <a:p>
            <a:r>
              <a:rPr lang="en-US" sz="1800" dirty="0"/>
              <a:t>Python is the top language in “want to learn,” reflecting interest beyond just current use.</a:t>
            </a:r>
          </a:p>
          <a:p>
            <a:pPr marL="0" indent="0">
              <a:buNone/>
            </a:pPr>
            <a:r>
              <a:rPr lang="en-US" sz="2100" b="1" dirty="0"/>
              <a:t>Future Year – Implications</a:t>
            </a:r>
            <a:endParaRPr lang="en-US" sz="2100" dirty="0"/>
          </a:p>
          <a:p>
            <a:r>
              <a:rPr lang="en-US" sz="1800" dirty="0"/>
              <a:t>Training programs should prioritize Python and TypeScript for future readiness.</a:t>
            </a:r>
          </a:p>
          <a:p>
            <a:r>
              <a:rPr lang="en-US" sz="1800" dirty="0"/>
              <a:t>Growth in TypeScript learning signals a shift toward </a:t>
            </a:r>
            <a:r>
              <a:rPr lang="en-US" sz="1800" b="1" dirty="0"/>
              <a:t>modern front-end frameworks</a:t>
            </a:r>
            <a:r>
              <a:rPr lang="en-US" sz="1800" dirty="0"/>
              <a:t>.</a:t>
            </a:r>
          </a:p>
          <a:p>
            <a:r>
              <a:rPr lang="en-US" sz="1800" dirty="0"/>
              <a:t>Developers preparing for </a:t>
            </a:r>
            <a:r>
              <a:rPr lang="en-US" sz="1800" b="1" dirty="0"/>
              <a:t>data + AI roles</a:t>
            </a:r>
            <a:r>
              <a:rPr lang="en-US" sz="1800" dirty="0"/>
              <a:t> will continue to drive Python adoption.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336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E0E65B-C02D-C073-DFBF-607747EF1623}"/>
              </a:ext>
            </a:extLst>
          </p:cNvPr>
          <p:cNvSpPr txBox="1">
            <a:spLocks/>
          </p:cNvSpPr>
          <p:nvPr/>
        </p:nvSpPr>
        <p:spPr>
          <a:xfrm>
            <a:off x="862584" y="1662112"/>
            <a:ext cx="1758143" cy="3270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Current Year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08ADFA5-6E87-63AE-47CA-B3A13E69D97B}"/>
              </a:ext>
            </a:extLst>
          </p:cNvPr>
          <p:cNvSpPr txBox="1">
            <a:spLocks/>
          </p:cNvSpPr>
          <p:nvPr/>
        </p:nvSpPr>
        <p:spPr>
          <a:xfrm>
            <a:off x="6095999" y="1662111"/>
            <a:ext cx="1758143" cy="3270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/>
              <a:t>Next Year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ED18F5-1A88-C391-3826-26EBB4AA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267432"/>
            <a:ext cx="5233415" cy="36165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B454A7-2F46-992F-3CB1-80596F114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2267432"/>
            <a:ext cx="5233415" cy="3616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365125"/>
            <a:ext cx="10546611" cy="1325563"/>
          </a:xfrm>
        </p:spPr>
        <p:txBody>
          <a:bodyPr>
            <a:normAutofit/>
          </a:bodyPr>
          <a:lstStyle/>
          <a:p>
            <a:r>
              <a:rPr lang="en-US" sz="2800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4" y="2113860"/>
            <a:ext cx="10546611" cy="3491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Current Year – Findings</a:t>
            </a:r>
            <a:endParaRPr lang="en-US" sz="2500" dirty="0"/>
          </a:p>
          <a:p>
            <a:r>
              <a:rPr lang="en-US" sz="1900" dirty="0"/>
              <a:t>PostgreSQL, Microsoft SQL Server, and MySQL are the top three databases in use.</a:t>
            </a:r>
          </a:p>
          <a:p>
            <a:r>
              <a:rPr lang="en-US" sz="1900" dirty="0"/>
              <a:t>NoSQL databases like MongoDB are already gaining significant adoption.</a:t>
            </a:r>
          </a:p>
          <a:p>
            <a:r>
              <a:rPr lang="en-US" sz="1900" dirty="0"/>
              <a:t>SQLite and Redis appear in niche but important usage categories.</a:t>
            </a:r>
          </a:p>
          <a:p>
            <a:pPr marL="0" indent="0">
              <a:buNone/>
            </a:pPr>
            <a:r>
              <a:rPr lang="en-US" sz="2500" b="1" dirty="0"/>
              <a:t>Current Year – Implications</a:t>
            </a:r>
            <a:endParaRPr lang="en-US" sz="2500" dirty="0"/>
          </a:p>
          <a:p>
            <a:r>
              <a:rPr lang="en-US" sz="1800" dirty="0"/>
              <a:t>Organizations continue to depend on traditional relational databases for mission-critical apps.</a:t>
            </a:r>
          </a:p>
          <a:p>
            <a:r>
              <a:rPr lang="en-US" sz="1800" dirty="0"/>
              <a:t>PostgreSQL stands out as the most popular open-source choice.</a:t>
            </a:r>
          </a:p>
          <a:p>
            <a:r>
              <a:rPr lang="en-US" sz="1800" dirty="0"/>
              <a:t>MongoDB adoption indicates rising interest in flexible, document-based systems.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A460-337C-5ADE-14CD-C85807ACA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BA02-04CE-F135-9D51-155C71EF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65125"/>
            <a:ext cx="1054661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B3F5-181D-7401-38CF-0C5C7CF8B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5" y="1994591"/>
            <a:ext cx="10546610" cy="3829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Future Year – Findings</a:t>
            </a:r>
            <a:endParaRPr lang="en-US" sz="2100" dirty="0"/>
          </a:p>
          <a:p>
            <a:r>
              <a:rPr lang="en-US" sz="1800" dirty="0"/>
              <a:t>PostgreSQL is the most desired database to learn, followed by Microsoft SQL Server and MongoDB.</a:t>
            </a:r>
          </a:p>
          <a:p>
            <a:r>
              <a:rPr lang="en-US" sz="1800" dirty="0"/>
              <a:t>MongoDB ranks higher in future demand compared to its current adoption.</a:t>
            </a:r>
          </a:p>
          <a:p>
            <a:r>
              <a:rPr lang="en-US" sz="1800" dirty="0"/>
              <a:t>Developers are also interested in learning SQLite and Redis, suggesting growth in lightweight and high-performance </a:t>
            </a:r>
            <a:r>
              <a:rPr lang="en-US" sz="1800" dirty="0" err="1"/>
              <a:t>DBs.</a:t>
            </a:r>
            <a:endParaRPr lang="en-US" sz="1800" dirty="0"/>
          </a:p>
          <a:p>
            <a:pPr marL="0" indent="0">
              <a:buNone/>
            </a:pPr>
            <a:r>
              <a:rPr lang="en-US" sz="2100" b="1" dirty="0"/>
              <a:t>Future Year – Implications</a:t>
            </a:r>
            <a:endParaRPr lang="en-US" sz="2100" dirty="0"/>
          </a:p>
          <a:p>
            <a:r>
              <a:rPr lang="en-US" sz="1800" dirty="0"/>
              <a:t>PostgreSQL will remain a cornerstone for modern applications due to scalability and open-source benefits.</a:t>
            </a:r>
          </a:p>
          <a:p>
            <a:r>
              <a:rPr lang="en-US" sz="1800" dirty="0"/>
              <a:t>MongoDB’s future demand shows a clear trend toward NoSQL and big-data-ready platforms.</a:t>
            </a:r>
          </a:p>
          <a:p>
            <a:r>
              <a:rPr lang="en-US" sz="1800" dirty="0"/>
              <a:t>Developers are preparing for a hybrid future where both relational and NoSQL databases coexist.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87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1"/>
            <a:ext cx="7068725" cy="1325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following dashboards highlight </a:t>
            </a:r>
          </a:p>
          <a:p>
            <a:r>
              <a:rPr lang="en-IN" sz="2000" dirty="0"/>
              <a:t>Current Technology Usage</a:t>
            </a:r>
            <a:r>
              <a:rPr lang="en-US" sz="2000" dirty="0"/>
              <a:t>,</a:t>
            </a:r>
          </a:p>
          <a:p>
            <a:r>
              <a:rPr lang="en-IN" sz="2000" dirty="0"/>
              <a:t>Future Technology Trend</a:t>
            </a:r>
            <a:r>
              <a:rPr lang="en-US" sz="2000" dirty="0"/>
              <a:t>, and </a:t>
            </a:r>
          </a:p>
          <a:p>
            <a:r>
              <a:rPr lang="en-IN" sz="2000" dirty="0"/>
              <a:t>Demographics</a:t>
            </a:r>
            <a:r>
              <a:rPr lang="en-US" sz="2000" dirty="0"/>
              <a:t> insights based on survey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043"/>
            <a:ext cx="10515600" cy="6784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DASHBOARD TAB 1 (</a:t>
            </a:r>
            <a:r>
              <a:rPr lang="en-IN" sz="2800" dirty="0"/>
              <a:t>Current Technology Usage)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376658-75CE-4F43-0802-2A612D237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474" y="1690688"/>
            <a:ext cx="9081052" cy="45212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691"/>
            <a:ext cx="10515600" cy="628788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DASHBOARD TAB 2 (</a:t>
            </a:r>
            <a:r>
              <a:rPr lang="en-IN" sz="2800" dirty="0"/>
              <a:t>Future Technology Trend)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FBD80F-2F8B-12C4-44ED-0FBFFD612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191" y="1549890"/>
            <a:ext cx="8965618" cy="48111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2507"/>
            <a:ext cx="10515600" cy="66854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DASHBOARD TAB 3 (</a:t>
            </a:r>
            <a:r>
              <a:rPr lang="en-IN" sz="2800" dirty="0"/>
              <a:t>Demographics)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CE8ED-E3E6-E61C-EBE0-1CCB25DDF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13" y="1461052"/>
            <a:ext cx="9731173" cy="47427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9538" y="2102071"/>
            <a:ext cx="6164262" cy="3458756"/>
          </a:xfrm>
        </p:spPr>
        <p:txBody>
          <a:bodyPr>
            <a:normAutofit/>
          </a:bodyPr>
          <a:lstStyle/>
          <a:p>
            <a:r>
              <a:rPr lang="en-US" sz="1800" dirty="0"/>
              <a:t>The Current Technology Usage dashboard shows that the top languages, databases, and platforms used today are HTML/CSS; JavaScript; SQL; TypeScript, PostgreSQL, and Amazon Web Services (AWS) respectively.</a:t>
            </a:r>
            <a:endParaRPr lang="en-US" sz="1600" dirty="0"/>
          </a:p>
          <a:p>
            <a:r>
              <a:rPr lang="en-US" sz="1800" dirty="0"/>
              <a:t>The Future Technology Trends dashboard indicates that developers want to learn PostgreSQL and Python, showing a strong interest in these technologies.</a:t>
            </a:r>
            <a:endParaRPr lang="en-US" sz="1600" dirty="0"/>
          </a:p>
          <a:p>
            <a:r>
              <a:rPr lang="en-US" sz="1800" dirty="0"/>
              <a:t>The Demographics dashboard reveals that the largest group of respondents are between 25-34 years old (41.3%) and have a Bachelor's degree (8,629 respondents).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Findings:</a:t>
            </a:r>
          </a:p>
          <a:p>
            <a:pPr marL="0" indent="0">
              <a:buNone/>
            </a:pPr>
            <a:r>
              <a:rPr lang="en-US" sz="1800" b="1" dirty="0"/>
              <a:t>Finding 1: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PostgreSQL and AWS are the leading technologies in the database and platform categories, respectively.</a:t>
            </a:r>
          </a:p>
          <a:p>
            <a:pPr marL="0" indent="0">
              <a:buNone/>
            </a:pPr>
            <a:r>
              <a:rPr lang="en-US" sz="1800" b="1" dirty="0"/>
              <a:t>Finding 2: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There is a notable desire to learn Python, suggesting its increasing market presence and demand.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Finding 3: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 The majority of respondents are experienced developers (age 25-44) with at least a Bachelor's degree, which provides credibility to the survey data.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Implications:</a:t>
            </a:r>
          </a:p>
          <a:p>
            <a:pPr marL="0" indent="0">
              <a:buNone/>
            </a:pPr>
            <a:r>
              <a:rPr lang="en-US" sz="1800" b="1" dirty="0"/>
              <a:t>Implication 1: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Businesses should consider adopting a tech stack centered around PostgreSQL and AWS to align with current trends and talent availability.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Implication 2:</a:t>
            </a:r>
          </a:p>
          <a:p>
            <a:pPr marL="0" indent="0">
              <a:buNone/>
            </a:pPr>
            <a:r>
              <a:rPr lang="en-US" sz="1800" b="1" dirty="0"/>
              <a:t>	</a:t>
            </a:r>
            <a:r>
              <a:rPr lang="en-US" sz="1800" dirty="0"/>
              <a:t>Educational institutions and individuals should focus on Python, as it is a highly sought-after skill for future job prospects. </a:t>
            </a:r>
          </a:p>
          <a:p>
            <a:pPr marL="0" indent="0">
              <a:buNone/>
            </a:pPr>
            <a:r>
              <a:rPr lang="en-US" sz="1800" b="1" dirty="0"/>
              <a:t>Implication 3:</a:t>
            </a:r>
          </a:p>
          <a:p>
            <a:pPr marL="0" indent="0">
              <a:buNone/>
            </a:pPr>
            <a:r>
              <a:rPr lang="en-US" sz="1800" dirty="0"/>
              <a:t>	The findings confirm the value of formal education in the developer community, with a Bachelor's degree being the most common educational background.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606919" y="2113896"/>
            <a:ext cx="6809509" cy="3798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JavaScript, Python, and TypeScript form the core of future programming trends.</a:t>
            </a:r>
          </a:p>
          <a:p>
            <a:r>
              <a:rPr lang="en-US" sz="2200" dirty="0"/>
              <a:t>PostgreSQL and MongoDB will drive database innovation.</a:t>
            </a:r>
          </a:p>
          <a:p>
            <a:r>
              <a:rPr lang="en-US" sz="2200" dirty="0"/>
              <a:t>Cloud platforms (AWS, Azure) remain essential in enterprise adoption.</a:t>
            </a:r>
          </a:p>
          <a:p>
            <a:r>
              <a:rPr lang="en-US" sz="2200" dirty="0"/>
              <a:t>Developers are young, educated, and eager to adopt emerging technologies.</a:t>
            </a:r>
          </a:p>
          <a:p>
            <a:r>
              <a:rPr lang="en-US" sz="2200" dirty="0"/>
              <a:t>Insights guide career planning, hiring strategies, and curriculum development.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A4A5F0-EC8C-ED2F-3C48-9A8297C6E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134" y="1514617"/>
            <a:ext cx="6197009" cy="3540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ABFEF-1265-7841-57B3-7DC05B532CCD}"/>
              </a:ext>
            </a:extLst>
          </p:cNvPr>
          <p:cNvSpPr txBox="1"/>
          <p:nvPr/>
        </p:nvSpPr>
        <p:spPr>
          <a:xfrm>
            <a:off x="4939134" y="5343383"/>
            <a:ext cx="6273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majority of respondents are experienced developers (age 25-44) with at least a Bachelor's degree</a:t>
            </a: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8B674-F773-C7B6-2330-FD22E89C1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669" y="1447209"/>
            <a:ext cx="9526662" cy="48791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71F1E-C2F6-D987-F391-DB5B47683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1" y="1411946"/>
            <a:ext cx="9622465" cy="49247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276</TotalTime>
  <Words>1076</Words>
  <Application>Microsoft Office PowerPoint</Application>
  <PresentationFormat>Widescreen</PresentationFormat>
  <Paragraphs>122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Technology Trends Analysis: Programming Languages, Databases, and Developer Insights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PROGRAMMING LANGUAGE TRENDS - FINDINGS &amp; IMPLICATIONS</vt:lpstr>
      <vt:lpstr>DATABASE TRENDS</vt:lpstr>
      <vt:lpstr>DATABASE TRENDS - FINDINGS &amp; IMPLICATIONS</vt:lpstr>
      <vt:lpstr>DATABASE TRENDS - FINDINGS &amp; IMPLICATIONS</vt:lpstr>
      <vt:lpstr>DASHBOARD OVERVIEW</vt:lpstr>
      <vt:lpstr>DASHBOARD TAB 1 (Current Technology Usage)</vt:lpstr>
      <vt:lpstr>DASHBOARD TAB 2 (Future Technology Trend)</vt:lpstr>
      <vt:lpstr>DASHBOARD TAB 3 (Demographics)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Kailash Gowtham</cp:lastModifiedBy>
  <cp:revision>4</cp:revision>
  <dcterms:created xsi:type="dcterms:W3CDTF">2024-10-30T05:40:03Z</dcterms:created>
  <dcterms:modified xsi:type="dcterms:W3CDTF">2025-08-29T17:57:12Z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